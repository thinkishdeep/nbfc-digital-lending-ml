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Data Analytics and Machine Learning for Digital Loan Disbursement Analysis in NBFCs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Field Project</a:t>
            </a:r>
          </a:p>
          <a:p>
            <a:pPr>
              <a:spcAft>
                <a:spcPts val="1200"/>
              </a:spcAft>
              <a:defRPr sz="2000"/>
            </a:pPr>
            <a:r>
              <a:t>B.Sc. Data Science | 2026–2027</a:t>
            </a:r>
          </a:p>
          <a:p>
            <a:pPr>
              <a:spcAft>
                <a:spcPts val="1200"/>
              </a:spcAft>
              <a:defRPr sz="2000"/>
            </a:pPr>
            <a:r>
              <a:t>Student: __________________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What is the project?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RBI public digital-lending data</a:t>
            </a:r>
          </a:p>
          <a:p>
            <a:pPr>
              <a:spcAft>
                <a:spcPts val="1200"/>
              </a:spcAft>
              <a:defRPr sz="2000"/>
            </a:pPr>
            <a:r>
              <a:t>Python cleaning + visualisation</a:t>
            </a:r>
          </a:p>
          <a:p>
            <a:pPr>
              <a:spcAft>
                <a:spcPts val="1200"/>
              </a:spcAft>
              <a:defRPr sz="2000"/>
            </a:pPr>
            <a:r>
              <a:t>Machine learning for prediction, grouping and unusual-pattern detection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305 cleaned NBFC-period observations</a:t>
            </a:r>
          </a:p>
          <a:p>
            <a:pPr>
              <a:spcAft>
                <a:spcPts val="1200"/>
              </a:spcAft>
              <a:defRPr sz="2000"/>
            </a:pPr>
            <a:r>
              <a:t>61 visible respondent IDs</a:t>
            </a:r>
          </a:p>
          <a:p>
            <a:pPr>
              <a:spcAft>
                <a:spcPts val="1200"/>
              </a:spcAft>
              <a:defRPr sz="2000"/>
            </a:pPr>
            <a:r>
              <a:t>Five reporting periods</a:t>
            </a:r>
          </a:p>
          <a:p>
            <a:pPr>
              <a:spcAft>
                <a:spcPts val="1200"/>
              </a:spcAft>
              <a:defRPr sz="2000"/>
            </a:pPr>
            <a:r>
              <a:t>Main variables: amount, loan count, average ticket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Python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Raw/cleaned data → Pandas → cleaning → feature engineering → visualisation → ML → evaluation → interpretation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Digital Disbursement Trend</a:t>
            </a:r>
          </a:p>
        </p:txBody>
      </p:sp>
      <p:pic>
        <p:nvPicPr>
          <p:cNvPr id="3" name="Picture 2" descr="01_disbursement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658368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89520" y="1417320"/>
            <a:ext cx="393192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The graph shows the observed total digital disbursement across the reporting periods.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Loan Count and Average Ticket</a:t>
            </a:r>
          </a:p>
        </p:txBody>
      </p:sp>
      <p:pic>
        <p:nvPicPr>
          <p:cNvPr id="3" name="Picture 2" descr="03_average_ticket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658368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89520" y="1417320"/>
            <a:ext cx="393192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Loan count and average ticket are analysed together to understand volume versus size.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Classification</a:t>
            </a:r>
          </a:p>
        </p:txBody>
      </p:sp>
      <p:pic>
        <p:nvPicPr>
          <p:cNvPr id="3" name="Picture 2" descr="05_classification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658368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89520" y="1417320"/>
            <a:ext cx="393192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Question: will the next observed disbursement increase?</a:t>
            </a:r>
          </a:p>
          <a:p>
            <a:pPr>
              <a:spcAft>
                <a:spcPts val="1000"/>
              </a:spcAft>
              <a:defRPr sz="1600"/>
            </a:pPr>
            <a:r>
              <a:t>Best model: Random Forest Classifier</a:t>
            </a:r>
          </a:p>
          <a:p>
            <a:pPr>
              <a:spcAft>
                <a:spcPts val="1000"/>
              </a:spcAft>
              <a:defRPr sz="1600"/>
            </a:pPr>
            <a:r>
              <a:t>F1 score: 0.809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Regression</a:t>
            </a:r>
          </a:p>
        </p:txBody>
      </p:sp>
      <p:pic>
        <p:nvPicPr>
          <p:cNvPr id="3" name="Picture 2" descr="08_regression_actual_vs_predi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6583680" cy="564315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89520" y="1417320"/>
            <a:ext cx="393192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Best model by RMSE: Gradient Boosting Regressor</a:t>
            </a:r>
          </a:p>
          <a:p>
            <a:pPr>
              <a:spcAft>
                <a:spcPts val="1000"/>
              </a:spcAft>
              <a:defRPr sz="1600"/>
            </a:pPr>
            <a:r>
              <a:t>RMSE: ₹1112.69 crore</a:t>
            </a:r>
          </a:p>
          <a:p>
            <a:pPr>
              <a:spcAft>
                <a:spcPts val="1000"/>
              </a:spcAft>
              <a:defRPr sz="1600"/>
            </a:pPr>
            <a:r>
              <a:t>R²: 0.221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K-Means Segmentation</a:t>
            </a:r>
          </a:p>
        </p:txBody>
      </p:sp>
      <p:pic>
        <p:nvPicPr>
          <p:cNvPr id="3" name="Picture 2" descr="09_kmeans_seg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658368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89520" y="1417320"/>
            <a:ext cx="393192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Three data-driven groups based on latest-period lending behaviour.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Anomaly Detection</a:t>
            </a:r>
          </a:p>
        </p:txBody>
      </p:sp>
      <p:pic>
        <p:nvPicPr>
          <p:cNvPr id="3" name="Picture 2" descr="10_isolation_forest_anomal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658368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89520" y="1417320"/>
            <a:ext cx="393192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Isolation Forest flagged 6 of 58 complete latest-period observations.</a:t>
            </a:r>
          </a:p>
          <a:p>
            <a:pPr>
              <a:spcAft>
                <a:spcPts val="1000"/>
              </a:spcAft>
              <a:defRPr sz="1600"/>
            </a:pPr>
            <a:r>
              <a:t>These are candidates for checking, not proof of errors or fraud.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ML can identify useful patterns, but predictions are imperfect.</a:t>
            </a:r>
          </a:p>
          <a:p>
            <a:pPr>
              <a:spcAft>
                <a:spcPts val="1200"/>
              </a:spcAft>
              <a:defRPr sz="2000"/>
            </a:pPr>
            <a:r>
              <a:t>Aggregate public data limits what can be concluded.</a:t>
            </a:r>
          </a:p>
          <a:p>
            <a:pPr>
              <a:spcAft>
                <a:spcPts val="1200"/>
              </a:spcAft>
              <a:defRPr sz="2000"/>
            </a:pPr>
            <a:r>
              <a:t>Python visualisation makes the data easier to understand.</a:t>
            </a:r>
          </a:p>
          <a:p>
            <a:pPr>
              <a:spcAft>
                <a:spcPts val="1200"/>
              </a:spcAft>
              <a:defRPr sz="2000"/>
            </a:pPr>
            <a:r>
              <a:t>The project demonstrates a complete data-science workflow.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The project combines financial data, Python analytics and machine learning.</a:t>
            </a:r>
          </a:p>
          <a:p>
            <a:pPr>
              <a:spcAft>
                <a:spcPts val="1200"/>
              </a:spcAft>
              <a:defRPr sz="2000"/>
            </a:pPr>
            <a:r>
              <a:t>It predicts observable lending patterns, groups NBFCs and flags unusual observations.</a:t>
            </a:r>
          </a:p>
          <a:p>
            <a:pPr>
              <a:spcAft>
                <a:spcPts val="1200"/>
              </a:spcAft>
              <a:defRPr sz="2000"/>
            </a:pPr>
            <a:r>
              <a:t>It does not prove that internal NBFC analytics caused lending changes.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Questions?</a:t>
            </a:r>
          </a:p>
          <a:p>
            <a:pPr>
              <a:spcAft>
                <a:spcPts val="1200"/>
              </a:spcAft>
              <a:defRPr sz="2000"/>
            </a:pPr>
            <a:r>
              <a:t>Student: __________________</a:t>
            </a:r>
          </a:p>
          <a:p>
            <a:pPr>
              <a:spcAft>
                <a:spcPts val="1200"/>
              </a:spcAft>
              <a:defRPr sz="2000"/>
            </a:pPr>
            <a:r>
              <a:t>Roll No.: __________________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